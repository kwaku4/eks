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77424C-E9EB-4228-BB09-8F8DDF445F08}">
  <a:tblStyle styleId="{1077424C-E9EB-4228-BB09-8F8DDF445F0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01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50000"/>
            <a:ext cx="77724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4181A"/>
                </a:solidFill>
                <a:latin typeface="Calibri"/>
              </a:rPr>
              <a:t>SRE Take-home</a:t>
            </a:r>
          </a:p>
          <a:p>
            <a:r>
              <a:rPr sz="4600" b="1">
                <a:solidFill>
                  <a:srgbClr val="14181A"/>
                </a:solidFill>
                <a:latin typeface="Calibri"/>
              </a:rPr>
              <a:t>Architecture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50000"/>
            <a:ext cx="7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45F63"/>
                </a:solidFill>
                <a:latin typeface="Calibri"/>
              </a:rPr>
              <a:t>Deployment, infrastructure, and CI/CD diagrams for the assignment.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200" y="33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45F63"/>
                </a:solidFill>
                <a:latin typeface="Consolas"/>
              </a:rPr>
              <a:t>Prepared by Kwaku Dabanka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5650000"/>
            <a:ext cx="7772400" cy="0"/>
          </a:xfrm>
          <a:prstGeom prst="line">
            <a:avLst/>
          </a:prstGeom>
          <a:ln w="9525">
            <a:solidFill>
              <a:srgbClr val="DCE1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576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545F63"/>
                </a:solidFill>
                <a:latin typeface="Consolas"/>
              </a:rPr>
              <a:t>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6050000"/>
            <a:ext cx="1055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Terraform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0800" y="6050000"/>
            <a:ext cx="1150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Terragrunt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0800" y="6050000"/>
            <a:ext cx="560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800" y="6050000"/>
            <a:ext cx="560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0800" y="6050000"/>
            <a:ext cx="1530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02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0000"/>
            <a:ext cx="77724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14181A"/>
                </a:solidFill>
                <a:latin typeface="Calibri"/>
              </a:rPr>
              <a:t>Kwaku Dabanka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0000"/>
            <a:ext cx="77724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3F3B"/>
                </a:solidFill>
                <a:latin typeface="Calibri"/>
              </a:rPr>
              <a:t>DevOps Engineer</a:t>
            </a:r>
            <a:r>
              <a:rPr sz="1600" b="0">
                <a:solidFill>
                  <a:srgbClr val="DCE1E0"/>
                </a:solidFill>
                <a:latin typeface="Calibri"/>
              </a:rPr>
              <a:t>  ·  </a:t>
            </a:r>
            <a:r>
              <a:rPr sz="1600" b="1">
                <a:solidFill>
                  <a:srgbClr val="083F3B"/>
                </a:solidFill>
                <a:latin typeface="Calibri"/>
              </a:rPr>
              <a:t>Site Reliability Engineer</a:t>
            </a:r>
            <a:r>
              <a:rPr sz="1600" b="0">
                <a:solidFill>
                  <a:srgbClr val="DCE1E0"/>
                </a:solidFill>
                <a:latin typeface="Calibri"/>
              </a:rPr>
              <a:t>  ·  </a:t>
            </a:r>
            <a:r>
              <a:rPr sz="1600" b="1">
                <a:solidFill>
                  <a:srgbClr val="083F3B"/>
                </a:solidFill>
                <a:latin typeface="Calibri"/>
              </a:rPr>
              <a:t>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0000"/>
            <a:ext cx="73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45F63"/>
                </a:solidFill>
                <a:latin typeface="Calibri"/>
              </a:rPr>
              <a:t>DevOps and Site Reliability Engineer with extensive experience building, operating, and improving highly available, cloud-native platforms across enterprise environments — combining hands-on technical depth with production ownership and automation-first thinking.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8200" y="33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45F63"/>
                </a:solidFill>
                <a:latin typeface="Consolas"/>
              </a:rPr>
              <a:t>kwakudabanka@gmail.com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5450000"/>
            <a:ext cx="7772400" cy="0"/>
          </a:xfrm>
          <a:prstGeom prst="line">
            <a:avLst/>
          </a:prstGeom>
          <a:ln w="9525">
            <a:solidFill>
              <a:srgbClr val="DCE1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5560000"/>
            <a:ext cx="3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545F63"/>
                </a:solidFill>
                <a:latin typeface="Consolas"/>
              </a:rPr>
              <a:t>CLOUDS &amp; PLATFORMS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850000"/>
            <a:ext cx="560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5800" y="5850000"/>
            <a:ext cx="675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Azure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80800" y="5850000"/>
            <a:ext cx="560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GCP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0800" y="5850000"/>
            <a:ext cx="560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OCI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0800" y="5850000"/>
            <a:ext cx="1150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Kubernetes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0800" y="5850000"/>
            <a:ext cx="1055000" cy="4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1050" b="1">
                <a:solidFill>
                  <a:srgbClr val="083F3B"/>
                </a:solidFill>
                <a:latin typeface="Consolas"/>
              </a:rPr>
              <a:t>Terraform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WHAT I BRING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03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00000"/>
            <a:ext cx="77724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81A"/>
                </a:solidFill>
                <a:latin typeface="Calibri"/>
              </a:rPr>
              <a:t>Core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0000"/>
            <a:ext cx="37762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83F3B"/>
                </a:solidFill>
                <a:latin typeface="Consolas"/>
              </a:rPr>
              <a:t>[ CLOUD &amp; INFRASTRUCTURE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0000"/>
            <a:ext cx="3776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45F63"/>
                </a:solidFill>
                <a:latin typeface="Calibri"/>
              </a:rPr>
              <a:t>Hands-on across four major clouds, with a strong focus on container orchestration and infrastructure as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70000"/>
            <a:ext cx="360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0800" y="2770000"/>
            <a:ext cx="370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Azure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5800" y="2770000"/>
            <a:ext cx="360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GCP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0800" y="2770000"/>
            <a:ext cx="360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OCI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5800" y="2770000"/>
            <a:ext cx="640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Kubernetes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0800" y="2770000"/>
            <a:ext cx="586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Terraform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2000" y="1750000"/>
            <a:ext cx="37762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83F3B"/>
                </a:solidFill>
                <a:latin typeface="Consolas"/>
              </a:rPr>
              <a:t>[ DEVOPS &amp; AUTOMATION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2000" y="2030000"/>
            <a:ext cx="3776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45F63"/>
                </a:solidFill>
                <a:latin typeface="Calibri"/>
              </a:rPr>
              <a:t>Built and optimized CI/CD pipelines, deployment automation, and self-service infrastructure.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2000" y="2770000"/>
            <a:ext cx="478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Jenkins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5000" y="2770000"/>
            <a:ext cx="856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GitHub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000" y="2770000"/>
            <a:ext cx="586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GitLab 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7000" y="2770000"/>
            <a:ext cx="478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Ansible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0000" y="2770000"/>
            <a:ext cx="360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Helm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15000" y="2770000"/>
            <a:ext cx="424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60000"/>
            <a:ext cx="37762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83F3B"/>
                </a:solidFill>
                <a:latin typeface="Consolas"/>
              </a:rPr>
              <a:t>[ RELIABILITY &amp; OBSERVABILITY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40000"/>
            <a:ext cx="3776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45F63"/>
                </a:solidFill>
                <a:latin typeface="Calibri"/>
              </a:rPr>
              <a:t>Supported business-critical production systems with a focus on availability, performance, and incident response.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80000"/>
            <a:ext cx="478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Datadog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8800" y="4380000"/>
            <a:ext cx="424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Splunk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7800" y="4380000"/>
            <a:ext cx="586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Dynatrace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8800" y="4380000"/>
            <a:ext cx="640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Prometheus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33800" y="4380000"/>
            <a:ext cx="478000" cy="330000"/>
          </a:xfrm>
          <a:prstGeom prst="roundRect">
            <a:avLst>
              <a:gd name="adj" fmla="val 30000"/>
            </a:avLst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083F3B"/>
                </a:solidFill>
                <a:latin typeface="Consolas"/>
              </a:rPr>
              <a:t>Grafana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2000" y="3360000"/>
            <a:ext cx="37762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83F3B"/>
                </a:solidFill>
                <a:latin typeface="Consolas"/>
              </a:rPr>
              <a:t>[ SECURITY &amp; GOVERNANCE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2000" y="3640000"/>
            <a:ext cx="3776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45F63"/>
                </a:solidFill>
                <a:latin typeface="Calibri"/>
              </a:rPr>
              <a:t>Integrated security and compliance into cloud infrastructure and delivery workflows in regulated environments.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2000" y="4380000"/>
            <a:ext cx="640000" cy="330000"/>
          </a:xfrm>
          <a:prstGeom prst="roundRect">
            <a:avLst>
              <a:gd name="adj" fmla="val 30000"/>
            </a:avLst>
          </a:prstGeom>
          <a:solidFill>
            <a:srgbClr val="F3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A8672A"/>
                </a:solidFill>
                <a:latin typeface="Consolas"/>
              </a:rPr>
              <a:t>Compliance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77000" y="4380000"/>
            <a:ext cx="856000" cy="330000"/>
          </a:xfrm>
          <a:prstGeom prst="roundRect">
            <a:avLst>
              <a:gd name="adj" fmla="val 30000"/>
            </a:avLst>
          </a:prstGeom>
          <a:solidFill>
            <a:srgbClr val="F3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A8672A"/>
                </a:solidFill>
                <a:latin typeface="Consolas"/>
              </a:rPr>
              <a:t>Cloud Security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0" y="4380000"/>
            <a:ext cx="640000" cy="330000"/>
          </a:xfrm>
          <a:prstGeom prst="roundRect">
            <a:avLst>
              <a:gd name="adj" fmla="val 30000"/>
            </a:avLst>
          </a:prstGeom>
          <a:solidFill>
            <a:srgbClr val="F3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/>
            <a:r>
              <a:rPr sz="900" b="1">
                <a:solidFill>
                  <a:srgbClr val="A8672A"/>
                </a:solidFill>
                <a:latin typeface="Consolas"/>
              </a:rPr>
              <a:t>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80000"/>
            <a:ext cx="77724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83F3B"/>
                </a:solidFill>
                <a:latin typeface="Consolas"/>
              </a:rPr>
              <a:t>[ LEADERSHIP 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100000"/>
            <a:ext cx="30000" cy="68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00" y="5080000"/>
            <a:ext cx="76124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A"/>
                </a:solidFill>
                <a:latin typeface="Calibri"/>
              </a:rPr>
              <a:t>Led and mentored engineering teams while remaining hands-on with architecture, troubleshooting, automation, and production operations — hands-on depth, production ownership, and automation-first thinking, combined with the ability to lead teams through complex reliability challenges.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04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00000"/>
            <a:ext cx="77724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81A"/>
                </a:solidFill>
                <a:latin typeface="Calibri"/>
              </a:rPr>
              <a:t>Solution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0000"/>
            <a:ext cx="77724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0E7A72"/>
                </a:solidFill>
                <a:latin typeface="Calibri"/>
              </a:rPr>
              <a:t>—  </a:t>
            </a:r>
            <a:r>
              <a:rPr sz="2000">
                <a:solidFill>
                  <a:srgbClr val="14181A"/>
                </a:solidFill>
                <a:latin typeface="Calibri"/>
              </a:rPr>
              <a:t>AWS deployment using Terraform, Terragrunt, EKS, RDS, and a Flask app.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0E7A72"/>
                </a:solidFill>
                <a:latin typeface="Calibri"/>
              </a:rPr>
              <a:t>—  </a:t>
            </a:r>
            <a:r>
              <a:rPr sz="2000">
                <a:solidFill>
                  <a:srgbClr val="14181A"/>
                </a:solidFill>
                <a:latin typeface="Calibri"/>
              </a:rPr>
              <a:t>NLB exposes the app externally; Kubernetes health probes ensure runtime stability.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0E7A72"/>
                </a:solidFill>
                <a:latin typeface="Calibri"/>
              </a:rPr>
              <a:t>—  </a:t>
            </a:r>
            <a:r>
              <a:rPr sz="2000">
                <a:solidFill>
                  <a:srgbClr val="14181A"/>
                </a:solidFill>
                <a:latin typeface="Calibri"/>
              </a:rPr>
              <a:t>GitHub Actions validates infrastructure and supports manual apply on 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05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00000"/>
            <a:ext cx="77724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81A"/>
                </a:solidFill>
                <a:latin typeface="Calibri"/>
              </a:rPr>
              <a:t>Solution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50" y="1650000"/>
            <a:ext cx="1831800" cy="749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083F3B"/>
                </a:solidFill>
                <a:latin typeface="Calibri"/>
              </a:rPr>
              <a:t>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7530" y="1650000"/>
            <a:ext cx="1831800" cy="749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083F3B"/>
                </a:solidFill>
                <a:latin typeface="Calibri"/>
              </a:rPr>
              <a:t>Terraform / Terragrunt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9309" y="1650000"/>
            <a:ext cx="1831800" cy="749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083F3B"/>
                </a:solidFill>
                <a:latin typeface="Calibri"/>
              </a:rPr>
              <a:t>AWS VPC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9309" y="3400000"/>
            <a:ext cx="1831800" cy="749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083F3B"/>
                </a:solidFill>
                <a:latin typeface="Calibri"/>
              </a:rPr>
              <a:t>EKS +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4200" y="3400000"/>
            <a:ext cx="1831800" cy="749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083F3B"/>
                </a:solidFill>
                <a:latin typeface="Calibri"/>
              </a:rPr>
              <a:t>RDS PostgreSQL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7550" y="2024700"/>
            <a:ext cx="219980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49330" y="2024700"/>
            <a:ext cx="219979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85209" y="2399400"/>
            <a:ext cx="0" cy="100060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01109" y="3774700"/>
            <a:ext cx="513091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9025" y="4900000"/>
            <a:ext cx="7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EKS Deployment runs the Flask app and Service provisions an internet-facing NLB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RDS is deployed privately for persistent app data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ConfigMaps and Secrets deliver runtime DB configuration securely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CI/CD ·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06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00000"/>
            <a:ext cx="77724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81A"/>
                </a:solidFill>
                <a:latin typeface="Calibri"/>
              </a:rPr>
              <a:t>CI/CD Diagram (Infra)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76" y="210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GitHub 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2984" y="210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Pull Request /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9393" y="210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GitHub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85800" y="210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Terragrunt Plan/Apply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6454" y="338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S3 Remote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85800" y="338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AWS Infrastructure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75276" y="2465700"/>
            <a:ext cx="497708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31684" y="2465700"/>
            <a:ext cx="497709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8093" y="2465700"/>
            <a:ext cx="497707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475804" y="2831400"/>
            <a:ext cx="82939" cy="548600"/>
          </a:xfrm>
          <a:prstGeom prst="bentConnector3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05154" y="3745700"/>
            <a:ext cx="580646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72" y="4720000"/>
            <a:ext cx="8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Main branch push supports manual apply via GitHub environment approvals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AWS credentials are provisioned via GitHub Secrets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Non-interactive Terragrunt commands ensure deterministic CI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CI/CD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07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00000"/>
            <a:ext cx="77724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81A"/>
                </a:solidFill>
                <a:latin typeface="Calibri"/>
              </a:rPr>
              <a:t>CI/CD Diagram (App)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76" y="210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GitHub 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2984" y="210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Pull Request /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9393" y="210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GitHub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85800" y="210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Build/tag/store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6454" y="338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Update Manifest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85800" y="3380000"/>
            <a:ext cx="1658700" cy="731400"/>
          </a:xfrm>
          <a:prstGeom prst="roundRect">
            <a:avLst>
              <a:gd name="adj" fmla="val 14000"/>
            </a:avLst>
          </a:prstGeom>
          <a:solidFill>
            <a:srgbClr val="E2F0EC"/>
          </a:solidFill>
          <a:ln w="15875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100" b="1">
                <a:solidFill>
                  <a:srgbClr val="083F3B"/>
                </a:solidFill>
                <a:latin typeface="Calibri"/>
              </a:rPr>
              <a:t>Deploy to k8s cluster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75276" y="2465700"/>
            <a:ext cx="497708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31684" y="2465700"/>
            <a:ext cx="497709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8093" y="2465700"/>
            <a:ext cx="497707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475804" y="2831400"/>
            <a:ext cx="82939" cy="548600"/>
          </a:xfrm>
          <a:prstGeom prst="bentConnector3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05154" y="3745700"/>
            <a:ext cx="580646" cy="0"/>
          </a:xfrm>
          <a:prstGeom prst="line">
            <a:avLst/>
          </a:prstGeom>
          <a:ln w="15875">
            <a:solidFill>
              <a:srgbClr val="0E7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72" y="4720000"/>
            <a:ext cx="8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Uses the "app-deploy.yml" file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Runs when there is a change to the app or config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App secrets like DB credentials are stored manually in the cluster (not checked into git)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E7A72"/>
                </a:solidFill>
                <a:latin typeface="Calibri"/>
              </a:rPr>
              <a:t>—  </a:t>
            </a:r>
            <a:r>
              <a:rPr sz="1400">
                <a:solidFill>
                  <a:srgbClr val="14181A"/>
                </a:solidFill>
                <a:latin typeface="Calibri"/>
              </a:rPr>
              <a:t>AWS credentials are provisioned via GitHub Secrets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08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00000"/>
            <a:ext cx="77724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81A"/>
                </a:solidFill>
                <a:latin typeface="Calibri"/>
              </a:rPr>
              <a:t>Deployment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0000"/>
            <a:ext cx="77724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0E7A72"/>
                </a:solidFill>
                <a:latin typeface="Calibri"/>
              </a:rPr>
              <a:t>—  </a:t>
            </a:r>
            <a:r>
              <a:rPr sz="2000">
                <a:solidFill>
                  <a:srgbClr val="14181A"/>
                </a:solidFill>
                <a:latin typeface="Calibri"/>
              </a:rPr>
              <a:t>Modular infrastructure is repeatable and controlled via Terraform/Terragrunt.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0E7A72"/>
                </a:solidFill>
                <a:latin typeface="Calibri"/>
              </a:rPr>
              <a:t>—  </a:t>
            </a:r>
            <a:r>
              <a:rPr sz="2000">
                <a:solidFill>
                  <a:srgbClr val="14181A"/>
                </a:solidFill>
                <a:latin typeface="Calibri"/>
              </a:rPr>
              <a:t>S3 remote state supports team collaboration and state locking.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0E7A72"/>
                </a:solidFill>
                <a:latin typeface="Calibri"/>
              </a:rPr>
              <a:t>—  </a:t>
            </a:r>
            <a:r>
              <a:rPr sz="2000">
                <a:solidFill>
                  <a:srgbClr val="14181A"/>
                </a:solidFill>
                <a:latin typeface="Calibri"/>
              </a:rPr>
              <a:t>CI validates infrastructure before deploy, reducing runtime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000"/>
          </a:xfrm>
          <a:prstGeom prst="rect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360000"/>
            <a:ext cx="60000" cy="60000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800" y="330000"/>
            <a:ext cx="5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130">
                <a:solidFill>
                  <a:srgbClr val="545F63"/>
                </a:solidFill>
                <a:latin typeface="Consola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4000" y="6438000"/>
            <a:ext cx="115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spc="60">
                <a:solidFill>
                  <a:srgbClr val="545F63"/>
                </a:solidFill>
                <a:latin typeface="Consolas"/>
              </a:rPr>
              <a:t>09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00000"/>
            <a:ext cx="77724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81A"/>
                </a:solidFill>
                <a:latin typeface="Calibri"/>
              </a:rPr>
              <a:t>Key Built Components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50000"/>
          <a:ext cx="7772400" cy="3400000"/>
        </p:xfrm>
        <a:graphic>
          <a:graphicData uri="http://schemas.openxmlformats.org/drawingml/2006/table">
            <a:tbl>
              <a:tblPr firstRow="0" bandRow="0"/>
              <a:tblGrid>
                <a:gridCol w="1750000"/>
                <a:gridCol w="3150000"/>
                <a:gridCol w="2872400"/>
              </a:tblGrid>
              <a:tr h="560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onsolas"/>
                        </a:rPr>
                        <a:t>Component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0E7A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onsolas"/>
                        </a:rPr>
                        <a:t>Capability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0E7A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onsolas"/>
                        </a:rPr>
                        <a:t>Benefit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0E7A72"/>
                    </a:solidFill>
                  </a:tcPr>
                </a:tc>
              </a:tr>
              <a:tr h="568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83F3B"/>
                          </a:solidFill>
                          <a:latin typeface="Consolas"/>
                        </a:rPr>
                        <a:t>Terraform/Terragrunt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Provision reusable infra modules and remote state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Consistent deployments and environment drift control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68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83F3B"/>
                          </a:solidFill>
                          <a:latin typeface="Consolas"/>
                        </a:rPr>
                        <a:t>EKS + NLB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Managed Kubernetes runtime with external ingress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Scalable service delivery with AWS-native load balancing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E2F0EC"/>
                    </a:solidFill>
                  </a:tcPr>
                </a:tc>
              </a:tr>
              <a:tr h="568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83F3B"/>
                          </a:solidFill>
                          <a:latin typeface="Consolas"/>
                        </a:rPr>
                        <a:t>RDS PostgreSQL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Persistent relational datastore for app state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Durable data storage separate from app pods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68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83F3B"/>
                          </a:solidFill>
                          <a:latin typeface="Consolas"/>
                        </a:rPr>
                        <a:t>Flask app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Visit tracking and health checks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Demonstrates app resiliency and stateful behavior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E2F0EC"/>
                    </a:solidFill>
                  </a:tcPr>
                </a:tc>
              </a:tr>
              <a:tr h="568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83F3B"/>
                          </a:solidFill>
                          <a:latin typeface="Consolas"/>
                        </a:rPr>
                        <a:t>GitHub Actions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CI validation and manual apply workflow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81A"/>
                          </a:solidFill>
                          <a:latin typeface="Calibri"/>
                        </a:rPr>
                        <a:t>Infrastructure changes are reviewed and controlled</a:t>
                      </a:r>
                    </a:p>
                  </a:txBody>
                  <a:tcPr marL="110000" marR="110000" marT="60000" marB="60000" anchor="ctr">
                    <a:lnB w="6350" cap="flat">
                      <a:solidFill>
                        <a:srgbClr val="DCE1E0"/>
                      </a:solidFill>
                    </a:lnB>
                    <a:lnT w="6350" cap="flat">
                      <a:solidFill>
                        <a:srgbClr val="DCE1E0"/>
                      </a:solidFill>
                    </a:lnT>
                    <a:lnR w="6350" cap="flat">
                      <a:solidFill>
                        <a:srgbClr val="DCE1E0"/>
                      </a:solidFill>
                    </a:lnR>
                    <a:lnL w="6350" cap="flat">
                      <a:solidFill>
                        <a:srgbClr val="DCE1E0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